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 1 · ~30 s] Apresentar o grupo e o objetivo: aplicar gestão de processos ao Extinction, o app do Projeto Final. Roteiro: processos, situação atual (AS-IS), diagnóstico, redesenho (TO-BE) e impacto nos requisitos.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 1 · ~1 min] Problema (Documento de Visão): extinção acelerada e falta de dados de onde as espécies estão. O Extinction é um app de ciência cidadã: fotografa, a IA identifica, o usuário confirma e o registro vira dado no feed, mapa e enciclopédia. Citar os beneficiários.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 1 · ~1 min] Tratamos o Extinction como organização: equipe, comunidade e fontes científicas. São 12 processos: 3 de gestão, 4 primários, 5 de suporte. É uma cadeia: sem registro (P1) não há dado; sem validação (P2) não é confiável; sem disseminação (P3) não gera conscientização. Por isso modelamos P1 e P2.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 2 · ~1 min] Explicar que o AS-IS reflete o comportamento real do app, lido no código. Três partes ligadas por eventos de link. Destacar: localização opcional, criação automática de espécies NE, texto livre sem validação e nova tentativa só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 2 · ~45 s] Mostrar os dois caminhos. Permissão negada ou cancelamento voltam ao início (nova tentativa). Na câmera, sem permissão ou sem GPS, segue sem local. Na galeria, o usuário posiciona o pino ou pula a localização.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 2 · ~45 s] Validação no app; geocodificação só se houver local e, se falhar, segue com coordenadas. Falha de rede, sessão expirada ou dados recusados: mensagem, formulário mantido, usuário toca Publicar de novo. O backend grava a localidade só se informada, e publica o local exato.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 2 · ~1 min] O especialista encontra erros por acaso no feed. Só pode comentar; o autor não é notificado. Para corrigir, o autor exclui a postagem e refaz todo o registro (atividade de chamada ao AS-IS 01), perdendo curtidas e comentários. Em paralelo, a equipe técnica corrige o catálogo por SQL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 2 · ~45 s] Resumir stakeholders e recursos dos dois processos. Destacar a rede móvel como recurso físico crítico e ausente em campo, e as listas IUCN/MMA consultadas à mão.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 3 · ~1 min 15 s] Os quatro achados principais. Eficiência boa quando há sinal, ruim em campo; eficácia parcial (pode publicar sem espécie confirmada e com local sensível exposto); experiência negativa para o autor corrigido e para o especialista sem ferramenta.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 3 · ~1 min] Personas hipotéticas construídas a partir do Documento de Visão. Cada princípio responde a uma necessidade: registro sem perda (Marina), fila até o especialista (Ricardo), fim da curadoria por SQL (equipe), correção preservando o registro e proteção da espécie ameaçada.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 3 · ~1 min] Percorrer as mudanças de cada parte. Enfatizar que nenhuma falha encerra o processo: as falhas temporárias viram novas tentativas automáticas e os registros sem conexão vão para a fila.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 3 · ~45 s] UUID gerado no aparelho. Sem conexão ou com falha, o registro vai para o subprocesso de fila. No servidor, o UUID evita duplicidade; a situação da espécie decide o caminho: confirmada, sugestão (curadoria) ou sem identificação (BioCLIP e confirmação pela notificação). Espécie ameaçada com local: coordenada pública generalizada.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 4 · ~45 s] Fila de até 100 registros (RNF-005); cheia, o formulário é mantido até liberar espaço. Com conexão, envio automático em ordem FIFO. Falha temporária: nova tentativa após intervalo crescente. Dados recusados: o usuário corrige e o item é reenviado. O servidor confirma sem duplicar.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 4 · ~1 min] A fila recebe sugestões e divergências e prioriza espécies ameaçadas. Especialistas do táxon e da região são notificados. Parecer: confirma (selo de validação), corrige (mantendo histórico, curtidas e comentários) ou inconclusivo (pedido de novas fotos). Sem parecer em 7 dias, redistribui. Espécie NE gera tarefa para o curador do catálogo.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 4 · ~45 s] Ler dois ou três indicadores principais: perda de registros, tempo até o parecer e exposição de espécies ameaçadas. Dizer que o AS-IS é qualitativo porque ainda não há medição.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 4 · ~1 min] Cada mudança do TO-BE virou requisito concreto. As novas regras ainda precisam ser formalizadas no DRS. Mostrar como elas se encaixam nas entregas dos MVPs do Projeto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 4 · ~45 s] Fechar com a mensagem principal e os próximos passos.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CATÓLICA DE BRASÍLIA · PROCESSOS DE NEGÓCIO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6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Extinction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632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C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redesenho dos processos de negócio de uma plataforma de ciência cidadã para identificar e mapear espécies ameaçadas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3035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11 — Cayky Emílio Vieira Neves · Daniel Souza de Lima · Flávio Daniel Rocha Santos · Guilherme Alves Rocha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7150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C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Oscar Galdino de Oliveira Júnior · Trabalho Final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Extinction · Grupo 11 · Processos de Negócio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CONTEXTUALIZAÇÃO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Avistamentos que viram dados de conservação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572000" cy="4480560"/>
          </a:xfrm>
          <a:prstGeom prst="roundRect">
            <a:avLst>
              <a:gd name="adj" fmla="val 2449"/>
            </a:avLst>
          </a:prstGeom>
          <a:solidFill>
            <a:srgbClr val="15233F"/>
          </a:solidFill>
          <a:ln w="12700">
            <a:solidFill>
              <a:srgbClr val="1523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28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945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6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71,6%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918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vegetação nativa da Mata Atlântica já foi desmatada (estimativa). Faltam dados georreferenciados sobre onde as espécies ameaçadas ainda vivem, e leigos têm dificuldade de identificar o que observam.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2148840"/>
            <a:ext cx="548640" cy="54864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057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cidadão fotografa a espécie (a localização é opcional)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0" y="3108960"/>
            <a:ext cx="548640" cy="54864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30175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BioCLIP sugere até 5 espécies e o usuário confirma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0" y="4069080"/>
            <a:ext cx="548640" cy="54864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977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avistamento vai para o feed, o mapa e a enciclopédia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0" y="5029200"/>
            <a:ext cx="6245352" cy="1051560"/>
          </a:xfrm>
          <a:prstGeom prst="roundRect">
            <a:avLst>
              <a:gd name="adj" fmla="val 8696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15000" y="512064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Beneficiários: </a:t>
            </a:r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cidadãos e estudantes, pesquisadores e biólogos, órgãos ambientais e ONGs, escolas.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Extinction · Grupo 11 · Processos de Negócio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DOS PROCESSOS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processos; o valor nasce em P1 e P2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74980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5DAD3"/>
            </a:solidFill>
            <a:prstDash val="solid"/>
          </a:ln>
        </p:spPr>
      </p:sp>
      <p:pic>
        <p:nvPicPr>
          <p:cNvPr id="7" name="Image 0" descr="Mapa de processos do Extin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65960"/>
            <a:ext cx="7498080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0" y="1600200"/>
            <a:ext cx="3502152" cy="1417320"/>
          </a:xfrm>
          <a:prstGeom prst="roundRect">
            <a:avLst>
              <a:gd name="adj" fmla="val 7742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58200" y="1783080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Primários críticos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458200" y="2221992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Registrar avistamento, P2 Validar identificação e P3 Disseminar conhecimento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229600" y="3154680"/>
            <a:ext cx="3502152" cy="1188720"/>
          </a:xfrm>
          <a:prstGeom prst="roundRect">
            <a:avLst>
              <a:gd name="adj" fmla="val 9231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58200" y="3337560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crítico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458200" y="3776472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Manter catálogo e status de conservação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29600" y="4480560"/>
            <a:ext cx="3502152" cy="1600200"/>
          </a:xfrm>
          <a:prstGeom prst="roundRect">
            <a:avLst>
              <a:gd name="adj" fmla="val 6857"/>
            </a:avLst>
          </a:prstGeom>
          <a:solidFill>
            <a:srgbClr val="15233F"/>
          </a:solidFill>
          <a:ln w="12700">
            <a:solidFill>
              <a:srgbClr val="15233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58200" y="4663440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Modelados em BPMN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8458200" y="5102352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6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e P2: onde o valor é criado e onde encontramos as maiores falhas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Extinction · Grupo 11 · Processos de Negócio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01 · REGISTRAR AVISTAMENTO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Modelado a partir do código real, em três partes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raias: usuário, aplicativo, backend e serviço de IA; as partes se ligam por eventos de link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602736" cy="4206240"/>
          </a:xfrm>
          <a:prstGeom prst="roundRect">
            <a:avLst>
              <a:gd name="adj" fmla="val 3046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057400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Captura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496312"/>
            <a:ext cx="314553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Câmera: GPS automático</a:t>
            </a:r>
            <a:endParaRPr lang="en-US" sz="1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Galeria: pino no mapa ou "Pular localização"</a:t>
            </a:r>
            <a:endParaRPr lang="en-US" sz="1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 opcional em todos os caminhos</a:t>
            </a:r>
            <a:endParaRPr lang="en-US" sz="1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Permissão negada ou cancelamento: aviso e nova tentativa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88536" y="1874520"/>
            <a:ext cx="3602736" cy="4206240"/>
          </a:xfrm>
          <a:prstGeom prst="roundRect">
            <a:avLst>
              <a:gd name="adj" fmla="val 3046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17136" y="2057400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Identificação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17136" y="2496312"/>
            <a:ext cx="314553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 1ª foto vai para o BioCLIP (top-5)</a:t>
            </a:r>
            <a:endParaRPr lang="en-US" sz="1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 candidatas abaixo de 20%</a:t>
            </a:r>
            <a:endParaRPr lang="en-US" sz="1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espécie ausente como NE, sem curadoria</a:t>
            </a:r>
            <a:endParaRPr lang="en-US" sz="1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candidatas: sugestão em texto livre, sem validação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19872" y="1874520"/>
            <a:ext cx="3602736" cy="4206240"/>
          </a:xfrm>
          <a:prstGeom prst="roundRect">
            <a:avLst>
              <a:gd name="adj" fmla="val 3046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48472" y="2057400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Publicação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48472" y="2496312"/>
            <a:ext cx="314553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no app e no backend</a:t>
            </a:r>
            <a:endParaRPr lang="en-US" sz="1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Cidade/UF só se houver local (falha: segue só com coordenadas)</a:t>
            </a:r>
            <a:endParaRPr lang="en-US" sz="1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mantém o formulário; nova tentativa é manual e só com o app aberto</a:t>
            </a:r>
            <a:endParaRPr lang="en-US" sz="1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exato publicado, inclusive de espécies ameaçadas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Extinction · Grupo 11 · Processos de Negócio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01.A · BPMN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Capturar fotos e localização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caminhos reais do app: câmera e galeria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127455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5DAD3"/>
            </a:solidFill>
            <a:prstDash val="solid"/>
          </a:ln>
        </p:spPr>
      </p:sp>
      <p:pic>
        <p:nvPicPr>
          <p:cNvPr id="8" name="Image 0" descr="Diagrama BPMN AS-IS 01.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1167"/>
            <a:ext cx="11274552" cy="316994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5166360"/>
            <a:ext cx="3602736" cy="1097280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5349240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 opcional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5788152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GPS ou "Pular localização", o registro segue sem local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88536" y="5166360"/>
            <a:ext cx="3602736" cy="1097280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17136" y="5349240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beco sem saída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17136" y="5788152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Permissão negada ou cancelamento: tentar novamente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19872" y="5166360"/>
            <a:ext cx="3602736" cy="1097280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48472" y="5349240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para 01.B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348472" y="5788152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e local seguem para a identificação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Extinction · Grupo 11 · Processos de Negócio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01.C · BPMN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Publicar a postagem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mantêm o formulário, mas a nova tentativa é manual e depende do app aberto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127455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5DAD3"/>
            </a:solidFill>
            <a:prstDash val="solid"/>
          </a:ln>
        </p:spPr>
      </p:sp>
      <p:pic>
        <p:nvPicPr>
          <p:cNvPr id="8" name="Image 0" descr="Diagrama BPMN AS-IS 01.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188" y="1783080"/>
            <a:ext cx="10902575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Extinction · Grupo 11 · Processos de Negócio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02 · BPMN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 identificação de espécie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validação sistemática: correção por comentário, exclusão e novo registro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127455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5DAD3"/>
            </a:solidFill>
            <a:prstDash val="solid"/>
          </a:ln>
        </p:spPr>
      </p:sp>
      <p:pic>
        <p:nvPicPr>
          <p:cNvPr id="8" name="Image 0" descr="Diagrama BPMN AS-IS 0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790" y="1783080"/>
            <a:ext cx="9967372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Extinction · Grupo 11 · Processos de Negócio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E RECURSOS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participa e com quais recursos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  <a:gridCol w="45079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· Registrar avistamento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· Validar identificação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Usuário cidadão; equipe de desenvolvimento; pesquisadores e órgãos ambientais; a própria espécie (interesse difuso)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Especialista voluntário; autor do avistamento; equipe de desenvolvimento; pesquisadores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Recursos humanos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Cidadão; equipe (4 integrantes) na manutenção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Especialistas voluntários; autores; equipe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Recursos tecnológicos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React Native/Expo; API Spring Boot; MySQL; serviço BioCLIP (Python); OpenStreetMap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 e comentários; banco MySQL via SQL; listas IUCN/MMA consultadas manualmente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Recursos físicos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Smartphone com câmera e GPS; rede móvel (muitas vezes ausente em campo); servidor para a inferência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Smartphones; computadores da equipe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Extinction · Grupo 11 · Processos de Negócio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CRÍTICA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diagnóstico revelou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541264" cy="2103120"/>
          </a:xfrm>
          <a:prstGeom prst="roundRect">
            <a:avLst>
              <a:gd name="adj" fmla="val 5217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01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Conexão exigida em campo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0604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sinal, a IA não roda e a publicação falha; a nova tentativa é manual e só com o app aberto.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90488" y="1600200"/>
            <a:ext cx="5541264" cy="2103120"/>
          </a:xfrm>
          <a:prstGeom prst="roundRect">
            <a:avLst>
              <a:gd name="adj" fmla="val 5217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4808" y="1801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DESPERDÍCIO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64808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Retrabalho e talento mal usado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464808" y="260604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exige excluir e republicar; especialistas procuram trabalho; a equipe técnica faz curadoria por SQL.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5541264" cy="2103120"/>
          </a:xfrm>
          <a:prstGeom prst="roundRect">
            <a:avLst>
              <a:gd name="adj" fmla="val 5217"/>
            </a:avLst>
          </a:prstGeom>
          <a:solidFill>
            <a:srgbClr val="15233F"/>
          </a:solidFill>
          <a:ln w="12700">
            <a:solidFill>
              <a:srgbClr val="1523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087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389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6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Espécie ameaçada exposta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89204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C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coordenada exata fica pública no mapa, o que pode facilitar caça e captura.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90488" y="3886200"/>
            <a:ext cx="5541264" cy="2103120"/>
          </a:xfrm>
          <a:prstGeom prst="roundRect">
            <a:avLst>
              <a:gd name="adj" fmla="val 5217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64808" y="4087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DEFEITO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64808" y="4389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sem destino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9204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em texto livre nunca é revisada; espécies NE entram no catálogo sem curadoria.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Extinction · Grupo 11 · Processos de Negócio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TO-BE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Redesenho centrado na pessoa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830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Marina, trilheira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2199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"Quero registrar na hora e esquecer; o app que envie depois."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2918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Ricardo, biólogo voluntário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7307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 mostrem o que precisa da minha avaliação."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461772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8006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Extinction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23951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"Não queremos editar dados científicos no banco à mão."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160020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princípios de redesenho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943600" y="2148840"/>
            <a:ext cx="502920" cy="50292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21488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registro nunca se perde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43600" y="2916936"/>
            <a:ext cx="502920" cy="50292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0" y="2916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29169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sempre entende o porquê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943600" y="3685032"/>
            <a:ext cx="502920" cy="50292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0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368503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vai até o especialista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943600" y="4453128"/>
            <a:ext cx="502920" cy="50292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0" y="4453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445312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sem punir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943600" y="5221224"/>
            <a:ext cx="502920" cy="50292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0" y="5221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629400" y="522122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a espécie antes de expor o dado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Extinction · Grupo 11 · Processos de Negócio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01 · REGISTRAR AVISTAMENTO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registro nunca se perde e sempre tem destino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divisão em três partes, mais o subprocesso de sincronização; o que é novo aparece em verde nos diagramas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602736" cy="4206240"/>
          </a:xfrm>
          <a:prstGeom prst="roundRect">
            <a:avLst>
              <a:gd name="adj" fmla="val 3046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057400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Captura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496312"/>
            <a:ext cx="314553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abre no local da foto (EXIF)</a:t>
            </a:r>
            <a:endParaRPr lang="en-US" sz="1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JPG/PNG verificado na seleção</a:t>
            </a:r>
            <a:endParaRPr lang="en-US" sz="1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Permissão negada: explica e oferece "Abrir ajustes"</a:t>
            </a:r>
            <a:endParaRPr lang="en-US" sz="1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 continua opcional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88536" y="1874520"/>
            <a:ext cx="3602736" cy="4206240"/>
          </a:xfrm>
          <a:prstGeom prst="roundRect">
            <a:avLst>
              <a:gd name="adj" fmla="val 3046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17136" y="2057400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Identificação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17136" y="2496312"/>
            <a:ext cx="314553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conexão: identifica depois do envio</a:t>
            </a:r>
            <a:endParaRPr lang="en-US" sz="1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3 tentativas automáticas</a:t>
            </a:r>
            <a:endParaRPr lang="en-US" sz="1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Candidatas com foto de referência e status</a:t>
            </a:r>
            <a:endParaRPr lang="en-US" sz="1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candidatas: dicas de foto ou sugestão pelo catálogo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19872" y="1874520"/>
            <a:ext cx="3602736" cy="4206240"/>
          </a:xfrm>
          <a:prstGeom prst="roundRect">
            <a:avLst>
              <a:gd name="adj" fmla="val 3046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48472" y="2057400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Publicação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48472" y="2496312"/>
            <a:ext cx="314553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gerado no aparelho</a:t>
            </a:r>
            <a:endParaRPr lang="en-US" sz="1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conexão ou falha: fila local automática</a:t>
            </a:r>
            <a:endParaRPr lang="en-US" sz="1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Sugestões vão para a curadoria (TO-BE 02)</a:t>
            </a:r>
            <a:endParaRPr lang="en-US" sz="1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Espécie ameaçada: local público generalizado (~10 km)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Extinction · Grupo 11 · Processos de Negócio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01.C · BPMN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Publicar o avistamento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vão para a fila; o servidor não duplica; espécies ameaçadas têm local generalizado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127455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5DAD3"/>
            </a:solidFill>
            <a:prstDash val="solid"/>
          </a:ln>
        </p:spPr>
      </p:sp>
      <p:pic>
        <p:nvPicPr>
          <p:cNvPr id="8" name="Image 0" descr="Diagrama BPMN TO-BE 01.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27246"/>
            <a:ext cx="11274552" cy="41922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Extinction · Grupo 11 · Processos de Negócio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01.1 · BPMN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Subprocesso: fila local e sincronização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100 registros, envio automático em ordem, backoff e idempotência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127455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5DAD3"/>
            </a:solidFill>
            <a:prstDash val="solid"/>
          </a:ln>
        </p:spPr>
      </p:sp>
      <p:pic>
        <p:nvPicPr>
          <p:cNvPr id="8" name="Image 0" descr="Diagrama BPMN do subprocesso de sincronização off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55735"/>
            <a:ext cx="11274552" cy="41352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Extinction · Grupo 11 · Processos de Negócio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02 · BPMN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Curadoria científica das identificações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priorizada, três pareceres e redistribuição após 7 dias sem resposta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127455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5DAD3"/>
            </a:solidFill>
            <a:prstDash val="solid"/>
          </a:ln>
        </p:spPr>
      </p:sp>
      <p:pic>
        <p:nvPicPr>
          <p:cNvPr id="8" name="Image 0" descr="Diagrama BPMN TO-BE 0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87573"/>
            <a:ext cx="11274552" cy="407157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Extinction · Grupo 11 · Processos de Negócio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vamos medir se o redesenho gera valor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959352"/>
                <a:gridCol w="310896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Hoje (AS-IS)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(TO-BE)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5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Registros perdidos por falta de conexão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Preservado só com o app aberto; nova tentativa manual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(fila de até 100)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5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até o parecer científico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Indefinido; pode nunca ocorrer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7 dias (≤ 48 h para CR/EN/VU)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5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Postagens com Validação Científica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Inexistente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50% das postagens com mais de 7 dias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5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Correções que exigem excluir a postagem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5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Espécies ameaçadas com local exato no mapa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Todas as que têm local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5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Novos usuários no 1º avistamento em ≤ 3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medido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6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80% (RNF-003)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situação atual é qualitativa: o sistema ainda não coleta essas medidas, e passar a medi-las é a primeira ação de monitoramento.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Extinction · Grupo 11 · Processos de Negócio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COM O SOFTWARE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nos requisitos do Extinction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602736" cy="3520440"/>
          </a:xfrm>
          <a:prstGeom prst="roundRect">
            <a:avLst>
              <a:gd name="adj" fmla="val 3117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83080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21992"/>
            <a:ext cx="314553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Ajustadas: RN-004, RN-005, RN-013, RN-014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RN-017: geoprivacidade de espécies ameaçadas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RN-018: prioridade e prazo da curadoria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RN-019: correção preserva o registro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88536" y="1600200"/>
            <a:ext cx="3602736" cy="3520440"/>
          </a:xfrm>
          <a:prstGeom prst="roundRect">
            <a:avLst>
              <a:gd name="adj" fmla="val 3117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17136" y="1783080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17136" y="2221992"/>
            <a:ext cx="314553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HU04: 4 novos cenários (4.13 a 4.16)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HU11: curadoria científica (4 cenários)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HU06 e HU08: notificação do parecer e pedido de selo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19872" y="1600200"/>
            <a:ext cx="3602736" cy="3520440"/>
          </a:xfrm>
          <a:prstGeom prst="roundRect">
            <a:avLst>
              <a:gd name="adj" fmla="val 3117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48472" y="1783080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48472" y="2221992"/>
            <a:ext cx="314553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Novas: Meus registros pendentes, Fila de curadoria, Curadoria do catálogo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Alteradas: Nova postagem, Resultado da identificação, Detalhe da postagem, Mapa, Notificações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5257800"/>
            <a:ext cx="11274552" cy="960120"/>
          </a:xfrm>
          <a:prstGeom prst="roundRect">
            <a:avLst>
              <a:gd name="adj" fmla="val 9524"/>
            </a:avLst>
          </a:prstGeom>
          <a:solidFill>
            <a:srgbClr val="15233F"/>
          </a:solidFill>
          <a:ln w="12700">
            <a:solidFill>
              <a:srgbClr val="1523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3035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cronograma: </a:t>
            </a:r>
            <a:pPr indent="0" marL="0">
              <a:buNone/>
            </a:pPr>
            <a:r>
              <a:rPr lang="en-US" sz="1500" dirty="0">
                <a:solidFill>
                  <a:srgbClr val="F6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1 (10/10) dicas de foto e sugestão pelo catálogo · MVP 2 (24/10) offline e geoprivacidade · MVP 3 (07/11) curadoria científica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6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Processos que respeitam quem registra, quem valida e a espécie registrada.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356616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22345A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3703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4114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C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novas regras e a HU11 no DRS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356616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22345A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3703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4114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C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indicadores para comparar AS-IS e TO-BE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55280" y="356616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22345A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3703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4114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C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curadoria em um piloto com biólogos voluntários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 Perguntas?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Extinction — Processos de Negócio</dc:title>
  <dc:subject>PptxGenJS Presentation</dc:subject>
  <dc:creator>PptxGenJS</dc:creator>
  <cp:lastModifiedBy>PptxGenJS</cp:lastModifiedBy>
  <cp:revision>1</cp:revision>
  <dcterms:created xsi:type="dcterms:W3CDTF">2026-09-29T00:08:31Z</dcterms:created>
  <dcterms:modified xsi:type="dcterms:W3CDTF">2026-09-29T00:08:31Z</dcterms:modified>
</cp:coreProperties>
</file>